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5A3B7-2D01-4CAD-ADCF-E2D03BE96C88}" type="datetimeFigureOut">
              <a:rPr lang="en-SG" smtClean="0"/>
              <a:t>5/8/2026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5ACF4-0305-4150-8769-5CB3A0312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782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5ACF4-0305-4150-8769-5CB3A031265D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3974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5ACF4-0305-4150-8769-5CB3A031265D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0186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5ACF4-0305-4150-8769-5CB3A031265D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1478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5ACF4-0305-4150-8769-5CB3A031265D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8945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B1DA0-AD65-F4C5-740D-26D9A90C7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F55B4-DEBB-8112-484F-8EA609855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DE42A-65B4-E6A9-3A86-29B45943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B554E-623E-B190-1029-FDBC875E1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204C2-7D1A-8135-FA37-A3C3E4F3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91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B5B87-A418-1CD0-21D9-844021DF4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FC187-23EA-49B9-5874-0CE680EFE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193CD-8242-F29C-A700-F535FB1E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D0997-9A73-C140-D58E-8E1018D1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AC282-0D14-552E-FB32-B37EF9B0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D9B8-E709-21E8-4E42-CF82F7DD0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CA731-FF66-7FCD-CDA1-AD8B5E280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9296C-4C03-7C2B-451E-E247B40C7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FB0E9-6AEA-AE6D-6DBC-08DAEB240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E658-F4E0-4932-FE68-EF8416F0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39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3D6F-F6E4-B5EB-0D17-E8F7BC49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0AF88-B03F-8DA9-3A6A-B32CD9BF7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C792F-3815-186B-98C7-D1C7D20A9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A047E-FDDB-2A2C-6A94-D89F98B7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C59A6-E992-DC3B-2657-56C457E8F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15D3E-9C6C-B42A-D1DA-61ADCC35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45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9B37-40E0-8EB4-730D-2370C7A6A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A3931-916F-64F7-0019-F72B848CA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65D0E-7F07-B67F-EFF7-42FD5D600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0F71B-F229-ABE6-6F2B-89480AF5E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1DC70-2BD6-6059-4CC4-28FFD26A7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72EEA8-EC4A-90B4-1057-2779E58F4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87F8FE-09BC-FFFA-1646-AE91E259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52258-3B44-0E12-A3F5-0755BCEB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2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8AA3-A09D-C243-5B68-437B67E1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F8CC4-7C57-D895-9119-0F6B6D1D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3CCDD-F30B-B259-109C-628BF770C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7BD11-88BF-F88C-8864-843D297C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58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291D28-4753-EB1F-B35E-1A5F910F7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13A2F0-1985-CDC1-2616-FD5A9171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4B5F0-4A99-7A53-7A03-6551E4393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0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226A-F8CE-1000-88B4-712810E2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73E58-DDD1-DF94-9344-8C658B229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BBB48-8A37-826B-6A31-1827ADC1E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94667-C2D4-55AB-A46E-8ED46E00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8BCBD-F639-D7E1-53B1-F471F73A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48AD7-6DD0-0E2F-B037-981F5148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39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4CD5-D1DE-594D-902D-53A6356A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E583EB-DDE5-F90B-8CFA-4477C59EB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FE450-E70E-A966-FBC0-2C10433B7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23582-4365-8991-40DB-B0079ECCB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63DDA-E844-7C18-2498-E40A7A70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9814F-169C-AC58-AD6E-74F9868D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6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DCC7-18F4-4ABF-8A33-04D13D869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5B4B1-9382-3830-3320-047EF4751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ED447-B397-3839-54F2-056EFDD2F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00AB9-17BA-8B4F-5AF8-574190B0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FAFC-7684-5696-C859-3231742F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0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193DCC-B65B-CD77-E4CD-8004AA237A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7088D-E5DB-16A5-5A3C-EACE87D12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9DA96-386A-5549-AD5E-D1084987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40C88-6566-7B3E-4935-1FFE28A5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41CF8-8F52-3BF6-7B58-621AE539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16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9EF260-D157-5CDD-D9C1-F0648E4F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4736C-6BA3-7AE9-266E-7375F7221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B087-4D3B-F74C-68DF-06B9F8D87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A2ED9-2041-4907-8650-670256DCCCF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55C8E-BDBB-C436-375B-9BA7B30DF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61B63-27C0-DA22-4CFB-14F43C839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8B24A-2BCF-4A79-9F66-83E853DA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2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4B8ED-6453-81A5-DFC0-794E2B79B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StudyPal</a:t>
            </a:r>
            <a:r>
              <a:rPr lang="en-US" b="1" dirty="0"/>
              <a:t> – AI-Powered </a:t>
            </a:r>
            <a:r>
              <a:rPr lang="en-US" b="1" dirty="0" err="1"/>
              <a:t>Personalised</a:t>
            </a:r>
            <a:r>
              <a:rPr lang="en-US" b="1" dirty="0"/>
              <a:t> Education</a:t>
            </a:r>
            <a:br>
              <a:rPr lang="en-US" dirty="0"/>
            </a:br>
            <a:r>
              <a:rPr lang="en-US" sz="3100" dirty="0"/>
              <a:t>Individual Assignment</a:t>
            </a:r>
            <a:br>
              <a:rPr lang="en-US" sz="3100" dirty="0"/>
            </a:br>
            <a:r>
              <a:rPr lang="en-US" sz="3100" dirty="0"/>
              <a:t>Business Model Canvas and Design Thinking Iteration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C1F94-193E-E48B-8D45-E13252F90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0304" y="4086670"/>
            <a:ext cx="9144000" cy="5673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Grishm Chandru Mirpuri</a:t>
            </a:r>
            <a:br>
              <a:rPr lang="en-US" dirty="0"/>
            </a:br>
            <a:r>
              <a:rPr lang="en-US" dirty="0"/>
              <a:t>2501516E</a:t>
            </a:r>
          </a:p>
        </p:txBody>
      </p:sp>
    </p:spTree>
    <p:extLst>
      <p:ext uri="{BB962C8B-B14F-4D97-AF65-F5344CB8AC3E}">
        <p14:creationId xmlns:p14="http://schemas.microsoft.com/office/powerpoint/2010/main" val="90886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D31786-DDA8-9DC7-C1DC-CD551CC45689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1" cy="6857999"/>
        </p:xfrm>
        <a:graphic>
          <a:graphicData uri="http://schemas.openxmlformats.org/drawingml/2006/table">
            <a:tbl>
              <a:tblPr/>
              <a:tblGrid>
                <a:gridCol w="2429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7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1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3670">
                <a:tc gridSpan="6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Archivo Black"/>
                        </a:rPr>
                        <a:t>StudyPal</a:t>
                      </a:r>
                      <a:endParaRPr lang="en-US" sz="7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86">
                <a:tc gridSpan="2"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oppins Bold"/>
                        </a:rPr>
                        <a:t>Student’s name: Grishm Chandru Mirpuri</a:t>
                      </a: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Student’s name: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oppins Bold"/>
                        </a:rPr>
                        <a:t>Class: PC04</a:t>
                      </a: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Date: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Date: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00"/>
                        </a:lnSpc>
                        <a:defRPr/>
                      </a:pP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63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oppins Bold"/>
                        </a:rPr>
                        <a:t>Key Partners</a:t>
                      </a: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oppins Bold"/>
                        </a:rPr>
                        <a:t>Key Activities</a:t>
                      </a: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Value Proposition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Value Proposition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Customer </a:t>
                      </a:r>
                      <a:endParaRPr lang="en-US" sz="1200"/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Relationship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oppins Bold"/>
                        </a:rPr>
                        <a:t>Customer Segments</a:t>
                      </a: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8083">
                <a:tc rowSpan="3"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1. Polytechnic lecturers and schools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2. AI and cloud-service providers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1. Maintain AI explanations and quizzes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2. Update course content and track progress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1. </a:t>
                      </a:r>
                      <a:r>
                        <a:rPr lang="en-US" sz="1200" dirty="0" err="1"/>
                        <a:t>Personalised</a:t>
                      </a:r>
                      <a:r>
                        <a:rPr lang="en-US" sz="1200" dirty="0"/>
                        <a:t>, course-relevant AI guidance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2. Quizzes, hints and revision support based on weak topics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1. </a:t>
                      </a:r>
                      <a:r>
                        <a:rPr lang="en-US" sz="1200" dirty="0" err="1"/>
                        <a:t>Personalised</a:t>
                      </a:r>
                      <a:r>
                        <a:rPr lang="en-US" sz="1200" dirty="0"/>
                        <a:t> reminders and progress tracking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2. Guided learning and feedback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1. Polytechnic students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2. Polytechnic schools and lecturers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392">
                <a:tc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Key Resources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oppins Bold"/>
                        </a:rPr>
                        <a:t>Channels</a:t>
                      </a: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7620">
                <a:tc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1. AI model, course materials and student data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2. Developers and secure cloud storage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1. </a:t>
                      </a:r>
                      <a:r>
                        <a:rPr lang="en-US" sz="1200" dirty="0" err="1"/>
                        <a:t>StudyPal</a:t>
                      </a:r>
                      <a:r>
                        <a:rPr lang="en-US" sz="1200" dirty="0"/>
                        <a:t> mobile/web application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2. School portals and lecturer recommendations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392">
                <a:tc gridSpan="3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oppins Bold"/>
                        </a:rPr>
                        <a:t>Cost Structure</a:t>
                      </a: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Cost Structure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Cost Structure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oppins Bold"/>
                        </a:rPr>
                        <a:t>Revenue Streams</a:t>
                      </a: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Revenue Streams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Revenue Streams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73523">
                <a:tc gridSpan="3"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1. AI API, cloud hosting and storage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2. Development, maintenance and data security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1. Freemium student subscription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r>
                        <a:rPr lang="en-US" sz="1200" dirty="0"/>
                        <a:t>2. School subscriptions or institutional </a:t>
                      </a:r>
                      <a:r>
                        <a:rPr lang="en-US" sz="1200" dirty="0" err="1"/>
                        <a:t>licences</a:t>
                      </a:r>
                      <a:endParaRPr lang="en-US" sz="1200" dirty="0"/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endParaRPr lang="en-US" sz="1200" dirty="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264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6110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55A"/>
                </a:solidFill>
                <a:latin typeface="Arial"/>
              </a:defRPr>
            </a:pPr>
            <a:r>
              <a:rPr dirty="0"/>
              <a:t>BMC 1: Customer Segments →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558838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  <a:latin typeface="Arial"/>
              </a:defRPr>
            </a:pPr>
            <a:r>
              <a:rPr dirty="0"/>
              <a:t>Why </a:t>
            </a:r>
            <a:r>
              <a:rPr dirty="0" err="1"/>
              <a:t>StudyPal</a:t>
            </a:r>
            <a:r>
              <a:rPr dirty="0"/>
              <a:t> should not treat all polytechnic students as </a:t>
            </a:r>
            <a:r>
              <a:rPr lang="en-SG" dirty="0"/>
              <a:t>the</a:t>
            </a:r>
            <a:r>
              <a:rPr dirty="0"/>
              <a:t> same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20574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ctr">
              <a:spcAft>
                <a:spcPts val="300"/>
              </a:spcAft>
              <a:defRPr sz="1600" b="1">
                <a:solidFill>
                  <a:srgbClr val="1E1E1E"/>
                </a:solidFill>
                <a:latin typeface="Arial"/>
              </a:defRPr>
            </a:pPr>
            <a:r>
              <a:rPr dirty="0"/>
              <a:t>Customer Segments</a:t>
            </a:r>
          </a:p>
          <a:p>
            <a:pPr>
              <a:spcAft>
                <a:spcPts val="300"/>
              </a:spcAft>
              <a:defRPr sz="1270" b="0">
                <a:solidFill>
                  <a:srgbClr val="1E1E1E"/>
                </a:solidFill>
                <a:latin typeface="Arial"/>
              </a:defRPr>
            </a:pPr>
            <a:r>
              <a:rPr dirty="0"/>
              <a:t>• Primary: Polytechnic students who use AI to study</a:t>
            </a:r>
          </a:p>
          <a:p>
            <a:pPr>
              <a:spcAft>
                <a:spcPts val="300"/>
              </a:spcAft>
              <a:defRPr sz="1270" b="0">
                <a:solidFill>
                  <a:srgbClr val="1E1E1E"/>
                </a:solidFill>
                <a:latin typeface="Arial"/>
              </a:defRPr>
            </a:pPr>
            <a:r>
              <a:rPr dirty="0"/>
              <a:t>• Secondary: Schools and lecturers who want responsible, course-aligned AI support</a:t>
            </a:r>
          </a:p>
          <a:p>
            <a:pPr>
              <a:spcAft>
                <a:spcPts val="300"/>
              </a:spcAft>
              <a:defRPr sz="1270" b="0">
                <a:solidFill>
                  <a:srgbClr val="1E1E1E"/>
                </a:solidFill>
                <a:latin typeface="Arial"/>
              </a:defRPr>
            </a:pPr>
            <a:r>
              <a:rPr dirty="0"/>
              <a:t>• Different students have different learning habits, confidence levels and time pressures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337560" cy="20574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ctr">
              <a:spcAft>
                <a:spcPts val="300"/>
              </a:spcAft>
              <a:defRPr sz="1600" b="1">
                <a:solidFill>
                  <a:srgbClr val="1E1E1E"/>
                </a:solidFill>
                <a:latin typeface="Arial"/>
              </a:defRPr>
            </a:pPr>
            <a:r>
              <a:t>Value Proposition</a:t>
            </a:r>
          </a:p>
          <a:p>
            <a:pPr>
              <a:spcAft>
                <a:spcPts val="300"/>
              </a:spcAft>
              <a:defRPr sz="1270" b="0">
                <a:solidFill>
                  <a:srgbClr val="1E1E1E"/>
                </a:solidFill>
                <a:latin typeface="Arial"/>
              </a:defRPr>
            </a:pPr>
            <a:r>
              <a:t>• Personalised, course-relevant AI guidance</a:t>
            </a:r>
          </a:p>
          <a:p>
            <a:pPr>
              <a:spcAft>
                <a:spcPts val="300"/>
              </a:spcAft>
              <a:defRPr sz="1270" b="0">
                <a:solidFill>
                  <a:srgbClr val="1E1E1E"/>
                </a:solidFill>
                <a:latin typeface="Arial"/>
              </a:defRPr>
            </a:pPr>
            <a:r>
              <a:t>• Quizzes, hints and revision support based on weak topics</a:t>
            </a:r>
          </a:p>
          <a:p>
            <a:pPr>
              <a:spcAft>
                <a:spcPts val="300"/>
              </a:spcAft>
              <a:defRPr sz="1270" b="0">
                <a:solidFill>
                  <a:srgbClr val="1E1E1E"/>
                </a:solidFill>
                <a:latin typeface="Arial"/>
              </a:defRPr>
            </a:pPr>
            <a:r>
              <a:t>• Helps students understand concepts instead of only getting fast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64208"/>
            <a:ext cx="3611880" cy="157276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ctr">
              <a:spcAft>
                <a:spcPts val="300"/>
              </a:spcAft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/>
              <a:t>Key Relationship</a:t>
            </a:r>
          </a:p>
          <a:p>
            <a:pPr algn="ctr">
              <a:spcAft>
                <a:spcPts val="300"/>
              </a:spcAft>
              <a:defRPr sz="1700" b="0">
                <a:solidFill>
                  <a:srgbClr val="1E1E1E"/>
                </a:solidFill>
                <a:latin typeface="Arial"/>
              </a:defRPr>
            </a:pPr>
            <a:r>
              <a:rPr sz="1250" dirty="0"/>
              <a:t>Student needs shape what “</a:t>
            </a:r>
            <a:r>
              <a:rPr sz="1250" dirty="0" err="1"/>
              <a:t>personalised</a:t>
            </a:r>
            <a:r>
              <a:rPr sz="1250" dirty="0"/>
              <a:t>” should look like.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22191" y="2029968"/>
            <a:ext cx="502920" cy="502920"/>
          </a:xfrm>
          <a:prstGeom prst="rightArrow">
            <a:avLst/>
          </a:prstGeom>
          <a:solidFill>
            <a:srgbClr val="B89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818120" y="2029968"/>
            <a:ext cx="502920" cy="502920"/>
          </a:xfrm>
          <a:prstGeom prst="rightArrow">
            <a:avLst/>
          </a:prstGeom>
          <a:solidFill>
            <a:srgbClr val="B89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0881360" cy="117043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ctr">
              <a:spcAft>
                <a:spcPts val="300"/>
              </a:spcAft>
              <a:defRPr sz="1500" b="1">
                <a:solidFill>
                  <a:srgbClr val="1E1E1E"/>
                </a:solidFill>
                <a:latin typeface="Arial"/>
              </a:defRPr>
            </a:pPr>
            <a:r>
              <a:t>Analysis</a:t>
            </a:r>
          </a:p>
          <a:p>
            <a:pPr>
              <a:spcAft>
                <a:spcPts val="300"/>
              </a:spcAft>
              <a:defRPr sz="1220" b="0">
                <a:solidFill>
                  <a:srgbClr val="1E1E1E"/>
                </a:solidFill>
                <a:latin typeface="Arial"/>
              </a:defRPr>
            </a:pPr>
            <a:r>
              <a:t>StudyPal’s promise is meaningful only when it responds to the different needs inside the broad group of “polytechnic students”. A busy student may need flexible planning, while a struggling student may need simpler explanations and repeated practice. A high-achieving student may value harder questions and source references. Therefore, StudyPal should adapt its explanations, quizzes, reminders and guidance instead of giving every student the same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0881360" cy="530352"/>
          </a:xfrm>
          <a:prstGeom prst="roundRect">
            <a:avLst/>
          </a:prstGeom>
          <a:solidFill>
            <a:srgbClr val="1E355A"/>
          </a:solidFill>
          <a:ln w="12700">
            <a:solidFill>
              <a:srgbClr val="1E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ctr">
              <a:spcAft>
                <a:spcPts val="300"/>
              </a:spcAft>
              <a:defRPr sz="1420" b="0">
                <a:solidFill>
                  <a:srgbClr val="FFFFFF"/>
                </a:solidFill>
                <a:latin typeface="Arial"/>
              </a:defRPr>
            </a:pPr>
            <a:r>
              <a:t>The clearer StudyPal is about its customer segments, the better it can deliver truly personalised learning support.</a:t>
            </a:r>
          </a:p>
        </p:txBody>
      </p:sp>
    </p:spTree>
    <p:extLst>
      <p:ext uri="{BB962C8B-B14F-4D97-AF65-F5344CB8AC3E}">
        <p14:creationId xmlns:p14="http://schemas.microsoft.com/office/powerpoint/2010/main" val="337874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2C49F-7618-8C48-71CE-87BD4D97D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0273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55A"/>
                </a:solidFill>
                <a:latin typeface="Arial"/>
              </a:defRPr>
            </a:pPr>
            <a:r>
              <a:rPr dirty="0"/>
              <a:t>BMC 2: Key Activities → Key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550201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  <a:latin typeface="Arial"/>
              </a:defRPr>
            </a:pPr>
            <a:r>
              <a:rPr lang="en-US" sz="1300" i="1" dirty="0"/>
              <a:t>How </a:t>
            </a:r>
            <a:r>
              <a:rPr lang="en-US" sz="1300" i="1" dirty="0" err="1"/>
              <a:t>StudyPal’s</a:t>
            </a:r>
            <a:r>
              <a:rPr lang="en-US" sz="1300" i="1" dirty="0"/>
              <a:t> learning support depends on the quality of its resources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794760" cy="25603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ctr">
              <a:spcAft>
                <a:spcPts val="300"/>
              </a:spcAft>
              <a:defRPr sz="1600" b="1">
                <a:solidFill>
                  <a:srgbClr val="1E1E1E"/>
                </a:solidFill>
                <a:latin typeface="Arial"/>
              </a:defRPr>
            </a:pPr>
            <a:r>
              <a:t>Key Activities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• Generate explanations, quizzes and hints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• Update uploaded course materials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• Track progress and weak topics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• Create personalised revision plans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• Maintain accuracy, security and reliability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17320"/>
            <a:ext cx="3794760" cy="25603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ctr">
              <a:spcAft>
                <a:spcPts val="300"/>
              </a:spcAft>
              <a:defRPr sz="1600" b="1">
                <a:solidFill>
                  <a:srgbClr val="1E1E1E"/>
                </a:solidFill>
                <a:latin typeface="Arial"/>
              </a:defRPr>
            </a:pPr>
            <a:r>
              <a:t>Key Resources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• AI model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• Lecture notes and tutorial materials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• Student progress data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• Developers and interface designers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• Secure cloud storage and computing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83664"/>
            <a:ext cx="2697480" cy="15544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ctr">
              <a:spcAft>
                <a:spcPts val="300"/>
              </a:spcAft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/>
              <a:t>Relationship</a:t>
            </a:r>
          </a:p>
          <a:p>
            <a:pPr>
              <a:spcAft>
                <a:spcPts val="300"/>
              </a:spcAft>
              <a:defRPr sz="1250" b="0">
                <a:solidFill>
                  <a:srgbClr val="1E1E1E"/>
                </a:solidFill>
                <a:latin typeface="Arial"/>
              </a:defRPr>
            </a:pPr>
            <a:r>
              <a:rPr dirty="0"/>
              <a:t>Resources enable the activities. If the resources are weak, the learning support becomes weak too.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07408" y="2404872"/>
            <a:ext cx="411480" cy="411480"/>
          </a:xfrm>
          <a:prstGeom prst="rightArrow">
            <a:avLst/>
          </a:prstGeom>
          <a:solidFill>
            <a:srgbClr val="B89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278624" y="2404872"/>
            <a:ext cx="411480" cy="411480"/>
          </a:xfrm>
          <a:prstGeom prst="rightArrow">
            <a:avLst/>
          </a:prstGeom>
          <a:solidFill>
            <a:srgbClr val="B89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10881360" cy="97840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ctr">
              <a:spcAft>
                <a:spcPts val="300"/>
              </a:spcAft>
              <a:defRPr sz="1500" b="1">
                <a:solidFill>
                  <a:srgbClr val="1E1E1E"/>
                </a:solidFill>
                <a:latin typeface="Arial"/>
              </a:defRPr>
            </a:pPr>
            <a:r>
              <a:t>Analysis</a:t>
            </a:r>
          </a:p>
          <a:p>
            <a:pPr>
              <a:spcAft>
                <a:spcPts val="300"/>
              </a:spcAft>
              <a:defRPr sz="1240" b="0">
                <a:solidFill>
                  <a:srgbClr val="1E1E1E"/>
                </a:solidFill>
                <a:latin typeface="Arial"/>
              </a:defRPr>
            </a:pPr>
            <a:r>
              <a:t>Course-based explanations depend on accurate and updated learning materials. Personalised quizzes and weak-topic tracking depend on reliable student-progress data. Developers and secure cloud services are also needed to keep StudyPal accessible, stable and safe for students.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321808"/>
            <a:ext cx="10881360" cy="502920"/>
          </a:xfrm>
          <a:prstGeom prst="roundRect">
            <a:avLst/>
          </a:prstGeom>
          <a:solidFill>
            <a:srgbClr val="1E355A"/>
          </a:solidFill>
          <a:ln w="12700">
            <a:solidFill>
              <a:srgbClr val="1E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t"/>
          <a:lstStyle/>
          <a:p>
            <a:pPr algn="ctr">
              <a:spcAft>
                <a:spcPts val="300"/>
              </a:spcAft>
              <a:defRPr sz="1420" b="0">
                <a:solidFill>
                  <a:srgbClr val="FFFFFF"/>
                </a:solidFill>
                <a:latin typeface="Arial"/>
              </a:defRPr>
            </a:pPr>
            <a:r>
              <a:t>Poor-quality resources would lead to inaccurate explanations, weak personalisation and lower student trust.</a:t>
            </a:r>
          </a:p>
        </p:txBody>
      </p:sp>
    </p:spTree>
    <p:extLst>
      <p:ext uri="{BB962C8B-B14F-4D97-AF65-F5344CB8AC3E}">
        <p14:creationId xmlns:p14="http://schemas.microsoft.com/office/powerpoint/2010/main" val="1937995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9205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55A"/>
                </a:solidFill>
                <a:latin typeface="Arial"/>
              </a:defRPr>
            </a:pPr>
            <a:r>
              <a:rPr dirty="0"/>
              <a:t>Iteration: Stage 4 Prototype → Adaptive Quick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  <a:latin typeface="Arial"/>
              </a:defRPr>
            </a:pPr>
            <a:r>
              <a:rPr dirty="0"/>
              <a:t>Refining </a:t>
            </a:r>
            <a:r>
              <a:rPr dirty="0" err="1"/>
              <a:t>StudyPal</a:t>
            </a:r>
            <a:r>
              <a:t> so students can get help quickly without losing course-based </a:t>
            </a:r>
            <a:r>
              <a:rPr dirty="0" err="1"/>
              <a:t>personalisation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3657600" cy="12344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200"/>
              </a:spcAft>
              <a:defRPr sz="1600" b="1">
                <a:solidFill>
                  <a:srgbClr val="1E1E1E"/>
                </a:solidFill>
                <a:latin typeface="Arial"/>
              </a:defRPr>
            </a:pPr>
            <a:r>
              <a:rPr dirty="0"/>
              <a:t>Current Issue</a:t>
            </a:r>
          </a:p>
          <a:p>
            <a:pPr>
              <a:spcAft>
                <a:spcPts val="200"/>
              </a:spcAft>
              <a:defRPr sz="1220" b="0">
                <a:solidFill>
                  <a:srgbClr val="1E1E1E"/>
                </a:solidFill>
                <a:latin typeface="Arial"/>
              </a:defRPr>
            </a:pPr>
            <a:r>
              <a:rPr dirty="0"/>
              <a:t>Students must first open a subject chat before asking a question. This adds steps and makes </a:t>
            </a:r>
            <a:r>
              <a:rPr dirty="0" err="1"/>
              <a:t>StudyPal</a:t>
            </a:r>
            <a:r>
              <a:rPr dirty="0"/>
              <a:t> feel slower than a general chatbot for quick help.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353312"/>
            <a:ext cx="6995160" cy="12344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200"/>
              </a:spcAft>
              <a:defRPr sz="1600" b="1">
                <a:solidFill>
                  <a:srgbClr val="1E1E1E"/>
                </a:solidFill>
                <a:latin typeface="Arial"/>
              </a:defRPr>
            </a:pPr>
            <a:r>
              <a:rPr dirty="0"/>
              <a:t>Proposed Refinement</a:t>
            </a:r>
          </a:p>
          <a:p>
            <a:pPr>
              <a:spcAft>
                <a:spcPts val="200"/>
              </a:spcAft>
              <a:defRPr sz="1220" b="0">
                <a:solidFill>
                  <a:srgbClr val="1E1E1E"/>
                </a:solidFill>
                <a:latin typeface="Arial"/>
              </a:defRPr>
            </a:pPr>
            <a:r>
              <a:rPr dirty="0"/>
              <a:t>Add an Adaptive Quick Help box on the home screen. </a:t>
            </a:r>
            <a:r>
              <a:rPr dirty="0" err="1"/>
              <a:t>StudyPal</a:t>
            </a:r>
            <a:r>
              <a:rPr dirty="0"/>
              <a:t> detects the subject, lets the student confirm the explanation style, and gives an answer using uploaded module materials with a source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16352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85656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2724912"/>
            <a:ext cx="1417320" cy="5029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980" b="0">
                <a:solidFill>
                  <a:srgbClr val="1E1E1E"/>
                </a:solidFill>
                <a:latin typeface="Arial"/>
              </a:defRPr>
            </a:pPr>
            <a:r>
              <a:t>Home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79" y="2871216"/>
            <a:ext cx="320040" cy="201168"/>
          </a:xfrm>
          <a:prstGeom prst="rightArrow">
            <a:avLst/>
          </a:prstGeom>
          <a:solidFill>
            <a:srgbClr val="B8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58768" y="2724912"/>
            <a:ext cx="1417320" cy="5029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980" b="0">
                <a:solidFill>
                  <a:srgbClr val="1E1E1E"/>
                </a:solidFill>
                <a:latin typeface="Arial"/>
              </a:defRPr>
            </a:pPr>
            <a:r>
              <a:t>Select Subject Chat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67527" y="2871216"/>
            <a:ext cx="320040" cy="201168"/>
          </a:xfrm>
          <a:prstGeom prst="rightArrow">
            <a:avLst/>
          </a:prstGeom>
          <a:solidFill>
            <a:srgbClr val="B8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843016" y="2724912"/>
            <a:ext cx="1417320" cy="5029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980" b="0">
                <a:solidFill>
                  <a:srgbClr val="1E1E1E"/>
                </a:solidFill>
                <a:latin typeface="Arial"/>
              </a:defRPr>
            </a:pPr>
            <a:r>
              <a:t>Ask Question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1775" y="2871216"/>
            <a:ext cx="320040" cy="201168"/>
          </a:xfrm>
          <a:prstGeom prst="rightArrow">
            <a:avLst/>
          </a:prstGeom>
          <a:solidFill>
            <a:srgbClr val="B8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27263" y="2724912"/>
            <a:ext cx="1417320" cy="5029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980" b="0">
                <a:solidFill>
                  <a:srgbClr val="1E1E1E"/>
                </a:solidFill>
                <a:latin typeface="Arial"/>
              </a:defRPr>
            </a:pPr>
            <a:r>
              <a:t>Choose Style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670048"/>
            <a:ext cx="1783080" cy="6400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1120" b="0">
                <a:solidFill>
                  <a:srgbClr val="1E1E1E"/>
                </a:solidFill>
                <a:latin typeface="Arial"/>
              </a:defRPr>
            </a:pPr>
            <a:r>
              <a:rPr dirty="0"/>
              <a:t>Too many steps for a quick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47872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48D59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3456432"/>
            <a:ext cx="1417320" cy="5029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930" b="0">
                <a:solidFill>
                  <a:srgbClr val="1E1E1E"/>
                </a:solidFill>
                <a:latin typeface="Arial"/>
              </a:defRPr>
            </a:pPr>
            <a:r>
              <a:t>Home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83279" y="3602736"/>
            <a:ext cx="320040" cy="201168"/>
          </a:xfrm>
          <a:prstGeom prst="rightArrow">
            <a:avLst/>
          </a:prstGeom>
          <a:solidFill>
            <a:srgbClr val="548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858768" y="3456432"/>
            <a:ext cx="1417320" cy="5029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930" b="0">
                <a:solidFill>
                  <a:srgbClr val="1E1E1E"/>
                </a:solidFill>
                <a:latin typeface="Arial"/>
              </a:defRPr>
            </a:pPr>
            <a:r>
              <a:t>Quick Help Box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67527" y="3602736"/>
            <a:ext cx="320040" cy="201168"/>
          </a:xfrm>
          <a:prstGeom prst="rightArrow">
            <a:avLst/>
          </a:prstGeom>
          <a:solidFill>
            <a:srgbClr val="548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843016" y="3456432"/>
            <a:ext cx="1417320" cy="5029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930" b="0">
                <a:solidFill>
                  <a:srgbClr val="1E1E1E"/>
                </a:solidFill>
                <a:latin typeface="Arial"/>
              </a:defRPr>
            </a:pPr>
            <a:r>
              <a:rPr dirty="0"/>
              <a:t>Confirm Subject + Style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351775" y="3602736"/>
            <a:ext cx="320040" cy="201168"/>
          </a:xfrm>
          <a:prstGeom prst="rightArrow">
            <a:avLst/>
          </a:prstGeom>
          <a:solidFill>
            <a:srgbClr val="548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27263" y="3456432"/>
            <a:ext cx="1417320" cy="5029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930" b="0">
                <a:solidFill>
                  <a:srgbClr val="1E1E1E"/>
                </a:solidFill>
                <a:latin typeface="Arial"/>
              </a:defRPr>
            </a:pPr>
            <a:r>
              <a:t>Answer + 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60" y="3401568"/>
            <a:ext cx="1783080" cy="6400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1120" b="0">
                <a:solidFill>
                  <a:srgbClr val="1E1E1E"/>
                </a:solidFill>
                <a:latin typeface="Arial"/>
              </a:defRPr>
            </a:pPr>
            <a:r>
              <a:t>Faster and still personalised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43400"/>
            <a:ext cx="6400800" cy="960120"/>
          </a:xfrm>
          <a:prstGeom prst="roundRect">
            <a:avLst/>
          </a:prstGeom>
          <a:solidFill>
            <a:srgbClr val="FAFAFA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200"/>
              </a:spcAft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/>
              <a:t>Justification</a:t>
            </a:r>
          </a:p>
          <a:p>
            <a:pPr>
              <a:spcAft>
                <a:spcPts val="200"/>
              </a:spcAft>
              <a:defRPr sz="1210" b="0">
                <a:solidFill>
                  <a:srgbClr val="1E1E1E"/>
                </a:solidFill>
                <a:latin typeface="Arial"/>
              </a:defRPr>
            </a:pPr>
            <a:r>
              <a:rPr dirty="0"/>
              <a:t>This directly responds to testing feedback that the prototype had too many steps. It keeps </a:t>
            </a:r>
            <a:r>
              <a:rPr dirty="0" err="1"/>
              <a:t>StudyPal’s</a:t>
            </a:r>
            <a:r>
              <a:rPr dirty="0"/>
              <a:t> main advantage by making answers quick, course-aligned and easier to verify.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4343400"/>
            <a:ext cx="4251960" cy="9601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200"/>
              </a:spcAft>
              <a:defRPr sz="1500" b="1">
                <a:solidFill>
                  <a:srgbClr val="1E1E1E"/>
                </a:solidFill>
                <a:latin typeface="Arial"/>
              </a:defRPr>
            </a:pPr>
            <a:r>
              <a:t>Expected Improvement</a:t>
            </a:r>
          </a:p>
          <a:p>
            <a:pPr>
              <a:spcAft>
                <a:spcPts val="200"/>
              </a:spcAft>
              <a:defRPr sz="1120" b="0">
                <a:solidFill>
                  <a:srgbClr val="1E1E1E"/>
                </a:solidFill>
                <a:latin typeface="Arial"/>
              </a:defRPr>
            </a:pPr>
            <a:r>
              <a:t>• Fewer steps before asking a question</a:t>
            </a:r>
            <a:br/>
            <a:r>
              <a:t>• Stronger trust through source references</a:t>
            </a:r>
            <a:br/>
            <a:r>
              <a:t>• Better reason to choose StudyPal over generic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04688"/>
            <a:ext cx="10881360" cy="438912"/>
          </a:xfrm>
          <a:prstGeom prst="roundRect">
            <a:avLst/>
          </a:prstGeom>
          <a:solidFill>
            <a:srgbClr val="1E355A"/>
          </a:solidFill>
          <a:ln w="12700">
            <a:solidFill>
              <a:srgbClr val="1E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ctr"/>
          <a:lstStyle/>
          <a:p>
            <a:pPr algn="ctr">
              <a:spcAft>
                <a:spcPts val="200"/>
              </a:spcAft>
              <a:defRPr sz="1330" b="0">
                <a:solidFill>
                  <a:srgbClr val="FFFFFF"/>
                </a:solidFill>
                <a:latin typeface="Arial"/>
              </a:defRPr>
            </a:pPr>
            <a:r>
              <a:t>This iteration makes StudyPal as convenient as a general chatbot while retaining personalised, course-aligned learning support.</a:t>
            </a:r>
          </a:p>
        </p:txBody>
      </p:sp>
    </p:spTree>
    <p:extLst>
      <p:ext uri="{BB962C8B-B14F-4D97-AF65-F5344CB8AC3E}">
        <p14:creationId xmlns:p14="http://schemas.microsoft.com/office/powerpoint/2010/main" val="24187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5622</TotalTime>
  <Words>730</Words>
  <Application>Microsoft Office PowerPoint</Application>
  <PresentationFormat>Widescreen</PresentationFormat>
  <Paragraphs>94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Archivo Black</vt:lpstr>
      <vt:lpstr>Arial</vt:lpstr>
      <vt:lpstr>Poppins Bold</vt:lpstr>
      <vt:lpstr>Office Theme</vt:lpstr>
      <vt:lpstr>StudyPal – AI-Powered Personalised Education Individual Assignment Business Model Canvas and Design Thinking Iteration </vt:lpstr>
      <vt:lpstr>PowerPoint Presentation</vt:lpstr>
      <vt:lpstr>PowerPoint Presentation</vt:lpstr>
      <vt:lpstr>PowerPoint Presentation</vt:lpstr>
      <vt:lpstr>PowerPoint Presentation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Terence TOH (TP)</dc:creator>
  <cp:lastModifiedBy>GRISHM CHANDRU MIRPURI</cp:lastModifiedBy>
  <cp:revision>15</cp:revision>
  <dcterms:created xsi:type="dcterms:W3CDTF">2025-09-22T01:57:06Z</dcterms:created>
  <dcterms:modified xsi:type="dcterms:W3CDTF">2026-08-05T09:51:20Z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28611d-fe69-484f-b56b-0db8a0d79612_Enabled">
    <vt:lpwstr>true</vt:lpwstr>
  </property>
  <property fmtid="{D5CDD505-2E9C-101B-9397-08002B2CF9AE}" pid="3" name="MSIP_Label_d528611d-fe69-484f-b56b-0db8a0d79612_SetDate">
    <vt:lpwstr>2025-09-25T05:32:46Z</vt:lpwstr>
  </property>
  <property fmtid="{D5CDD505-2E9C-101B-9397-08002B2CF9AE}" pid="4" name="MSIP_Label_d528611d-fe69-484f-b56b-0db8a0d79612_Method">
    <vt:lpwstr>Privileged</vt:lpwstr>
  </property>
  <property fmtid="{D5CDD505-2E9C-101B-9397-08002B2CF9AE}" pid="5" name="MSIP_Label_d528611d-fe69-484f-b56b-0db8a0d79612_Name">
    <vt:lpwstr>Public</vt:lpwstr>
  </property>
  <property fmtid="{D5CDD505-2E9C-101B-9397-08002B2CF9AE}" pid="6" name="MSIP_Label_d528611d-fe69-484f-b56b-0db8a0d79612_SiteId">
    <vt:lpwstr>25a99bf0-8e72-472a-ae50-adfbdf0df6f1</vt:lpwstr>
  </property>
  <property fmtid="{D5CDD505-2E9C-101B-9397-08002B2CF9AE}" pid="7" name="MSIP_Label_d528611d-fe69-484f-b56b-0db8a0d79612_ActionId">
    <vt:lpwstr>9ebc7743-2bb3-4ffb-9de1-8a904214cee5</vt:lpwstr>
  </property>
  <property fmtid="{D5CDD505-2E9C-101B-9397-08002B2CF9AE}" pid="8" name="MSIP_Label_d528611d-fe69-484f-b56b-0db8a0d79612_ContentBits">
    <vt:lpwstr>0</vt:lpwstr>
  </property>
  <property fmtid="{D5CDD505-2E9C-101B-9397-08002B2CF9AE}" pid="9" name="MSIP_Label_d528611d-fe69-484f-b56b-0db8a0d79612_Tag">
    <vt:lpwstr>10, 0, 1, 1</vt:lpwstr>
  </property>
  <property fmtid="{D5CDD505-2E9C-101B-9397-08002B2CF9AE}" pid="10" name="MSIP_Label_6dda6799-48a4-4505-a0cd-904be69fc9b2_Enabled">
    <vt:lpwstr>true</vt:lpwstr>
  </property>
  <property fmtid="{D5CDD505-2E9C-101B-9397-08002B2CF9AE}" pid="11" name="MSIP_Label_6dda6799-48a4-4505-a0cd-904be69fc9b2_SetDate">
    <vt:lpwstr>2026-08-04T01:50:07Z</vt:lpwstr>
  </property>
  <property fmtid="{D5CDD505-2E9C-101B-9397-08002B2CF9AE}" pid="12" name="MSIP_Label_6dda6799-48a4-4505-a0cd-904be69fc9b2_Method">
    <vt:lpwstr>Privileged</vt:lpwstr>
  </property>
  <property fmtid="{D5CDD505-2E9C-101B-9397-08002B2CF9AE}" pid="13" name="MSIP_Label_6dda6799-48a4-4505-a0cd-904be69fc9b2_Name">
    <vt:lpwstr>NON-SENSITIVE</vt:lpwstr>
  </property>
  <property fmtid="{D5CDD505-2E9C-101B-9397-08002B2CF9AE}" pid="14" name="MSIP_Label_6dda6799-48a4-4505-a0cd-904be69fc9b2_SiteId">
    <vt:lpwstr>6590cdd4-8337-4198-bacc-47645c4a4d4d</vt:lpwstr>
  </property>
  <property fmtid="{D5CDD505-2E9C-101B-9397-08002B2CF9AE}" pid="15" name="MSIP_Label_6dda6799-48a4-4505-a0cd-904be69fc9b2_ActionId">
    <vt:lpwstr>45c24fd8-4c9b-4bb5-951c-e29328f67f7b</vt:lpwstr>
  </property>
  <property fmtid="{D5CDD505-2E9C-101B-9397-08002B2CF9AE}" pid="16" name="MSIP_Label_6dda6799-48a4-4505-a0cd-904be69fc9b2_ContentBits">
    <vt:lpwstr>0</vt:lpwstr>
  </property>
</Properties>
</file>